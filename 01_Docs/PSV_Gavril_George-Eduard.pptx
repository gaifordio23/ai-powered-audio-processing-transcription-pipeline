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C4DB8F-2CB2-41CE-A59D-AA9FBE66475A}" type="doc">
      <dgm:prSet loTypeId="urn:microsoft.com/office/officeart/2005/8/layout/cycle1" loCatId="cycle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77398B4-6F20-42E5-9BB1-F3F7A95526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1. Ingestion: </a:t>
          </a:r>
          <a:r>
            <a:rPr lang="en-US"/>
            <a:t>Automated file polling and regex-based sanitization of raw .mp4/.mkv assets.</a:t>
          </a:r>
        </a:p>
      </dgm:t>
    </dgm:pt>
    <dgm:pt modelId="{80147DE2-B8A2-4C7E-A39D-E9D6F359DA20}" type="parTrans" cxnId="{58DCAAD9-A33F-42E7-B7CD-0EAF80892D24}">
      <dgm:prSet/>
      <dgm:spPr/>
      <dgm:t>
        <a:bodyPr/>
        <a:lstStyle/>
        <a:p>
          <a:endParaRPr lang="en-US"/>
        </a:p>
      </dgm:t>
    </dgm:pt>
    <dgm:pt modelId="{C8B1808E-398E-4924-8A63-7A755A1E1942}" type="sibTrans" cxnId="{58DCAAD9-A33F-42E7-B7CD-0EAF80892D2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0BC81E4-AF1F-4C70-961E-D4C8C9D94F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2. Separation: </a:t>
          </a:r>
          <a:r>
            <a:rPr lang="en-US"/>
            <a:t>Convolutional U-Net isolates high-fidelity vocal stems using the mdx model.</a:t>
          </a:r>
        </a:p>
      </dgm:t>
    </dgm:pt>
    <dgm:pt modelId="{E92AC3EB-3839-41F6-81AB-1B741018FE9E}" type="parTrans" cxnId="{9B8D9DCA-45E6-438A-90F3-3105129AEFB6}">
      <dgm:prSet/>
      <dgm:spPr/>
      <dgm:t>
        <a:bodyPr/>
        <a:lstStyle/>
        <a:p>
          <a:endParaRPr lang="en-US"/>
        </a:p>
      </dgm:t>
    </dgm:pt>
    <dgm:pt modelId="{FD5D7F63-2EA6-41C5-B37B-DDD2A54F4728}" type="sibTrans" cxnId="{9B8D9DCA-45E6-438A-90F3-3105129AEFB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07077E9-EF4A-4F45-8E20-69296737FA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3. Segmentation:  </a:t>
          </a:r>
          <a:r>
            <a:rPr lang="en-US"/>
            <a:t>RMS energy analysis slices audio into packets with +500ms safety buffers.</a:t>
          </a:r>
        </a:p>
      </dgm:t>
    </dgm:pt>
    <dgm:pt modelId="{1CBE3B48-F909-472F-B282-1630E8BFAAC7}" type="parTrans" cxnId="{0F21FAEC-6A9A-4B38-A921-9A6A9E96BAA3}">
      <dgm:prSet/>
      <dgm:spPr/>
      <dgm:t>
        <a:bodyPr/>
        <a:lstStyle/>
        <a:p>
          <a:endParaRPr lang="en-US"/>
        </a:p>
      </dgm:t>
    </dgm:pt>
    <dgm:pt modelId="{2D395534-4443-4625-9377-D4D098609929}" type="sibTrans" cxnId="{0F21FAEC-6A9A-4B38-A921-9A6A9E96BAA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884E182-A9A5-46FF-88C7-EB35589129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4. Transcription: </a:t>
          </a:r>
          <a:r>
            <a:rPr lang="en-US"/>
            <a:t>Whisper ASR processed in FP32 precision to generate granular text corpora.</a:t>
          </a:r>
        </a:p>
      </dgm:t>
    </dgm:pt>
    <dgm:pt modelId="{59FEFFA4-DF24-4DB7-B7A6-9B68B2CA58DB}" type="parTrans" cxnId="{2E74F8FF-6521-4BFB-8AC1-EBCEE7648331}">
      <dgm:prSet/>
      <dgm:spPr/>
      <dgm:t>
        <a:bodyPr/>
        <a:lstStyle/>
        <a:p>
          <a:endParaRPr lang="en-US"/>
        </a:p>
      </dgm:t>
    </dgm:pt>
    <dgm:pt modelId="{08AEF261-1264-4C3F-9C07-328EA5334C52}" type="sibTrans" cxnId="{2E74F8FF-6521-4BFB-8AC1-EBCEE7648331}">
      <dgm:prSet/>
      <dgm:spPr/>
      <dgm:t>
        <a:bodyPr/>
        <a:lstStyle/>
        <a:p>
          <a:endParaRPr lang="en-US"/>
        </a:p>
      </dgm:t>
    </dgm:pt>
    <dgm:pt modelId="{74057FC6-4600-4C79-8705-2C0C73735E9F}" type="pres">
      <dgm:prSet presAssocID="{D8C4DB8F-2CB2-41CE-A59D-AA9FBE66475A}" presName="cycle" presStyleCnt="0">
        <dgm:presLayoutVars>
          <dgm:dir/>
          <dgm:resizeHandles val="exact"/>
        </dgm:presLayoutVars>
      </dgm:prSet>
      <dgm:spPr/>
    </dgm:pt>
    <dgm:pt modelId="{D74F2E57-5CEE-4111-A611-C432EB7724C2}" type="pres">
      <dgm:prSet presAssocID="{F77398B4-6F20-42E5-9BB1-F3F7A95526CE}" presName="dummy" presStyleCnt="0"/>
      <dgm:spPr/>
    </dgm:pt>
    <dgm:pt modelId="{8F4B2703-7A71-484D-A289-FCD346B490D7}" type="pres">
      <dgm:prSet presAssocID="{F77398B4-6F20-42E5-9BB1-F3F7A95526CE}" presName="node" presStyleLbl="revTx" presStyleIdx="0" presStyleCnt="4">
        <dgm:presLayoutVars>
          <dgm:bulletEnabled val="1"/>
        </dgm:presLayoutVars>
      </dgm:prSet>
      <dgm:spPr/>
    </dgm:pt>
    <dgm:pt modelId="{1C235004-D551-4B0D-A8FD-A09D25A5C9E1}" type="pres">
      <dgm:prSet presAssocID="{C8B1808E-398E-4924-8A63-7A755A1E1942}" presName="sibTrans" presStyleLbl="node1" presStyleIdx="0" presStyleCnt="4"/>
      <dgm:spPr/>
    </dgm:pt>
    <dgm:pt modelId="{42AC9E2E-DF2E-463F-8E0F-904E6146A37D}" type="pres">
      <dgm:prSet presAssocID="{B0BC81E4-AF1F-4C70-961E-D4C8C9D94FAB}" presName="dummy" presStyleCnt="0"/>
      <dgm:spPr/>
    </dgm:pt>
    <dgm:pt modelId="{94E36858-771D-479A-96FB-8672E888F2F5}" type="pres">
      <dgm:prSet presAssocID="{B0BC81E4-AF1F-4C70-961E-D4C8C9D94FAB}" presName="node" presStyleLbl="revTx" presStyleIdx="1" presStyleCnt="4">
        <dgm:presLayoutVars>
          <dgm:bulletEnabled val="1"/>
        </dgm:presLayoutVars>
      </dgm:prSet>
      <dgm:spPr/>
    </dgm:pt>
    <dgm:pt modelId="{E34479B4-B586-493A-AC97-FB36A50B6B7E}" type="pres">
      <dgm:prSet presAssocID="{FD5D7F63-2EA6-41C5-B37B-DDD2A54F4728}" presName="sibTrans" presStyleLbl="node1" presStyleIdx="1" presStyleCnt="4"/>
      <dgm:spPr/>
    </dgm:pt>
    <dgm:pt modelId="{B8FB4813-8811-4DF7-BCB0-419FBD665818}" type="pres">
      <dgm:prSet presAssocID="{F07077E9-EF4A-4F45-8E20-69296737FAD1}" presName="dummy" presStyleCnt="0"/>
      <dgm:spPr/>
    </dgm:pt>
    <dgm:pt modelId="{BAFF2148-4804-4BC1-97E9-719B1621427A}" type="pres">
      <dgm:prSet presAssocID="{F07077E9-EF4A-4F45-8E20-69296737FAD1}" presName="node" presStyleLbl="revTx" presStyleIdx="2" presStyleCnt="4">
        <dgm:presLayoutVars>
          <dgm:bulletEnabled val="1"/>
        </dgm:presLayoutVars>
      </dgm:prSet>
      <dgm:spPr/>
    </dgm:pt>
    <dgm:pt modelId="{604A3802-E04C-415A-85AE-D0AB4CE19691}" type="pres">
      <dgm:prSet presAssocID="{2D395534-4443-4625-9377-D4D098609929}" presName="sibTrans" presStyleLbl="node1" presStyleIdx="2" presStyleCnt="4"/>
      <dgm:spPr/>
    </dgm:pt>
    <dgm:pt modelId="{E98A97B1-054F-48B7-AF16-2E59E9F65DCC}" type="pres">
      <dgm:prSet presAssocID="{D884E182-A9A5-46FF-88C7-EB355891299C}" presName="dummy" presStyleCnt="0"/>
      <dgm:spPr/>
    </dgm:pt>
    <dgm:pt modelId="{A837B413-1333-4428-8F77-A9A4DBC69DAC}" type="pres">
      <dgm:prSet presAssocID="{D884E182-A9A5-46FF-88C7-EB355891299C}" presName="node" presStyleLbl="revTx" presStyleIdx="3" presStyleCnt="4">
        <dgm:presLayoutVars>
          <dgm:bulletEnabled val="1"/>
        </dgm:presLayoutVars>
      </dgm:prSet>
      <dgm:spPr/>
    </dgm:pt>
    <dgm:pt modelId="{1AF7AE20-90BE-46AF-9306-2D50B97110FD}" type="pres">
      <dgm:prSet presAssocID="{08AEF261-1264-4C3F-9C07-328EA5334C52}" presName="sibTrans" presStyleLbl="node1" presStyleIdx="3" presStyleCnt="4"/>
      <dgm:spPr/>
    </dgm:pt>
  </dgm:ptLst>
  <dgm:cxnLst>
    <dgm:cxn modelId="{2A69F515-51B9-4137-8B24-40CF6D708BC0}" type="presOf" srcId="{B0BC81E4-AF1F-4C70-961E-D4C8C9D94FAB}" destId="{94E36858-771D-479A-96FB-8672E888F2F5}" srcOrd="0" destOrd="0" presId="urn:microsoft.com/office/officeart/2005/8/layout/cycle1"/>
    <dgm:cxn modelId="{1ED63831-CD62-4CF7-B862-C4EAA3B59B3D}" type="presOf" srcId="{D8C4DB8F-2CB2-41CE-A59D-AA9FBE66475A}" destId="{74057FC6-4600-4C79-8705-2C0C73735E9F}" srcOrd="0" destOrd="0" presId="urn:microsoft.com/office/officeart/2005/8/layout/cycle1"/>
    <dgm:cxn modelId="{A548F435-30DC-4EB0-B6B8-0E691598BDE5}" type="presOf" srcId="{F07077E9-EF4A-4F45-8E20-69296737FAD1}" destId="{BAFF2148-4804-4BC1-97E9-719B1621427A}" srcOrd="0" destOrd="0" presId="urn:microsoft.com/office/officeart/2005/8/layout/cycle1"/>
    <dgm:cxn modelId="{F759373B-56F3-4162-8334-62FD9D746147}" type="presOf" srcId="{C8B1808E-398E-4924-8A63-7A755A1E1942}" destId="{1C235004-D551-4B0D-A8FD-A09D25A5C9E1}" srcOrd="0" destOrd="0" presId="urn:microsoft.com/office/officeart/2005/8/layout/cycle1"/>
    <dgm:cxn modelId="{7EA79A63-3802-4F67-81B6-039D66FB93C4}" type="presOf" srcId="{2D395534-4443-4625-9377-D4D098609929}" destId="{604A3802-E04C-415A-85AE-D0AB4CE19691}" srcOrd="0" destOrd="0" presId="urn:microsoft.com/office/officeart/2005/8/layout/cycle1"/>
    <dgm:cxn modelId="{8C8A6A69-BB0C-4CA2-863E-DBB7FEFDEE8C}" type="presOf" srcId="{FD5D7F63-2EA6-41C5-B37B-DDD2A54F4728}" destId="{E34479B4-B586-493A-AC97-FB36A50B6B7E}" srcOrd="0" destOrd="0" presId="urn:microsoft.com/office/officeart/2005/8/layout/cycle1"/>
    <dgm:cxn modelId="{5BC76F72-DBC1-420D-9900-3C4436B9F18F}" type="presOf" srcId="{D884E182-A9A5-46FF-88C7-EB355891299C}" destId="{A837B413-1333-4428-8F77-A9A4DBC69DAC}" srcOrd="0" destOrd="0" presId="urn:microsoft.com/office/officeart/2005/8/layout/cycle1"/>
    <dgm:cxn modelId="{A7C10492-6DD6-4766-A8A5-53622CC05223}" type="presOf" srcId="{08AEF261-1264-4C3F-9C07-328EA5334C52}" destId="{1AF7AE20-90BE-46AF-9306-2D50B97110FD}" srcOrd="0" destOrd="0" presId="urn:microsoft.com/office/officeart/2005/8/layout/cycle1"/>
    <dgm:cxn modelId="{9B8D9DCA-45E6-438A-90F3-3105129AEFB6}" srcId="{D8C4DB8F-2CB2-41CE-A59D-AA9FBE66475A}" destId="{B0BC81E4-AF1F-4C70-961E-D4C8C9D94FAB}" srcOrd="1" destOrd="0" parTransId="{E92AC3EB-3839-41F6-81AB-1B741018FE9E}" sibTransId="{FD5D7F63-2EA6-41C5-B37B-DDD2A54F4728}"/>
    <dgm:cxn modelId="{58DCAAD9-A33F-42E7-B7CD-0EAF80892D24}" srcId="{D8C4DB8F-2CB2-41CE-A59D-AA9FBE66475A}" destId="{F77398B4-6F20-42E5-9BB1-F3F7A95526CE}" srcOrd="0" destOrd="0" parTransId="{80147DE2-B8A2-4C7E-A39D-E9D6F359DA20}" sibTransId="{C8B1808E-398E-4924-8A63-7A755A1E1942}"/>
    <dgm:cxn modelId="{0F21FAEC-6A9A-4B38-A921-9A6A9E96BAA3}" srcId="{D8C4DB8F-2CB2-41CE-A59D-AA9FBE66475A}" destId="{F07077E9-EF4A-4F45-8E20-69296737FAD1}" srcOrd="2" destOrd="0" parTransId="{1CBE3B48-F909-472F-B282-1630E8BFAAC7}" sibTransId="{2D395534-4443-4625-9377-D4D098609929}"/>
    <dgm:cxn modelId="{22D32FF5-0EEE-49C4-AE6C-E7C765B8BD72}" type="presOf" srcId="{F77398B4-6F20-42E5-9BB1-F3F7A95526CE}" destId="{8F4B2703-7A71-484D-A289-FCD346B490D7}" srcOrd="0" destOrd="0" presId="urn:microsoft.com/office/officeart/2005/8/layout/cycle1"/>
    <dgm:cxn modelId="{2E74F8FF-6521-4BFB-8AC1-EBCEE7648331}" srcId="{D8C4DB8F-2CB2-41CE-A59D-AA9FBE66475A}" destId="{D884E182-A9A5-46FF-88C7-EB355891299C}" srcOrd="3" destOrd="0" parTransId="{59FEFFA4-DF24-4DB7-B7A6-9B68B2CA58DB}" sibTransId="{08AEF261-1264-4C3F-9C07-328EA5334C52}"/>
    <dgm:cxn modelId="{66A17D80-5419-4719-8EDB-7C92940EE91A}" type="presParOf" srcId="{74057FC6-4600-4C79-8705-2C0C73735E9F}" destId="{D74F2E57-5CEE-4111-A611-C432EB7724C2}" srcOrd="0" destOrd="0" presId="urn:microsoft.com/office/officeart/2005/8/layout/cycle1"/>
    <dgm:cxn modelId="{BCB927CD-6754-471B-805E-6C636533743C}" type="presParOf" srcId="{74057FC6-4600-4C79-8705-2C0C73735E9F}" destId="{8F4B2703-7A71-484D-A289-FCD346B490D7}" srcOrd="1" destOrd="0" presId="urn:microsoft.com/office/officeart/2005/8/layout/cycle1"/>
    <dgm:cxn modelId="{770045B1-7A7A-461F-B3E8-B7DE0BFB8A14}" type="presParOf" srcId="{74057FC6-4600-4C79-8705-2C0C73735E9F}" destId="{1C235004-D551-4B0D-A8FD-A09D25A5C9E1}" srcOrd="2" destOrd="0" presId="urn:microsoft.com/office/officeart/2005/8/layout/cycle1"/>
    <dgm:cxn modelId="{19E1FD04-1C1C-4A78-8A9B-F624C009F3FF}" type="presParOf" srcId="{74057FC6-4600-4C79-8705-2C0C73735E9F}" destId="{42AC9E2E-DF2E-463F-8E0F-904E6146A37D}" srcOrd="3" destOrd="0" presId="urn:microsoft.com/office/officeart/2005/8/layout/cycle1"/>
    <dgm:cxn modelId="{7436431F-87BF-448C-9C4C-9877957CDA97}" type="presParOf" srcId="{74057FC6-4600-4C79-8705-2C0C73735E9F}" destId="{94E36858-771D-479A-96FB-8672E888F2F5}" srcOrd="4" destOrd="0" presId="urn:microsoft.com/office/officeart/2005/8/layout/cycle1"/>
    <dgm:cxn modelId="{933F7E34-41F6-4139-8AE6-0B9FEA8FB0E6}" type="presParOf" srcId="{74057FC6-4600-4C79-8705-2C0C73735E9F}" destId="{E34479B4-B586-493A-AC97-FB36A50B6B7E}" srcOrd="5" destOrd="0" presId="urn:microsoft.com/office/officeart/2005/8/layout/cycle1"/>
    <dgm:cxn modelId="{EAFA2C46-AA8C-49A3-9435-F65A6185DB60}" type="presParOf" srcId="{74057FC6-4600-4C79-8705-2C0C73735E9F}" destId="{B8FB4813-8811-4DF7-BCB0-419FBD665818}" srcOrd="6" destOrd="0" presId="urn:microsoft.com/office/officeart/2005/8/layout/cycle1"/>
    <dgm:cxn modelId="{9E9C1674-7F92-4EAA-8D7F-DAB031E0CABA}" type="presParOf" srcId="{74057FC6-4600-4C79-8705-2C0C73735E9F}" destId="{BAFF2148-4804-4BC1-97E9-719B1621427A}" srcOrd="7" destOrd="0" presId="urn:microsoft.com/office/officeart/2005/8/layout/cycle1"/>
    <dgm:cxn modelId="{77243579-42D0-42C0-8959-B865D7620A35}" type="presParOf" srcId="{74057FC6-4600-4C79-8705-2C0C73735E9F}" destId="{604A3802-E04C-415A-85AE-D0AB4CE19691}" srcOrd="8" destOrd="0" presId="urn:microsoft.com/office/officeart/2005/8/layout/cycle1"/>
    <dgm:cxn modelId="{8E3225F0-3191-4BC8-8E1C-F923C8E74D76}" type="presParOf" srcId="{74057FC6-4600-4C79-8705-2C0C73735E9F}" destId="{E98A97B1-054F-48B7-AF16-2E59E9F65DCC}" srcOrd="9" destOrd="0" presId="urn:microsoft.com/office/officeart/2005/8/layout/cycle1"/>
    <dgm:cxn modelId="{64497305-CC57-4368-8B07-92CC6DF3A5C2}" type="presParOf" srcId="{74057FC6-4600-4C79-8705-2C0C73735E9F}" destId="{A837B413-1333-4428-8F77-A9A4DBC69DAC}" srcOrd="10" destOrd="0" presId="urn:microsoft.com/office/officeart/2005/8/layout/cycle1"/>
    <dgm:cxn modelId="{72DF90A1-804E-4AE8-A39B-3C81980C1EBF}" type="presParOf" srcId="{74057FC6-4600-4C79-8705-2C0C73735E9F}" destId="{1AF7AE20-90BE-46AF-9306-2D50B97110FD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4B2703-7A71-484D-A289-FCD346B490D7}">
      <dsp:nvSpPr>
        <dsp:cNvPr id="0" name=""/>
        <dsp:cNvSpPr/>
      </dsp:nvSpPr>
      <dsp:spPr>
        <a:xfrm>
          <a:off x="4088184" y="106786"/>
          <a:ext cx="1665780" cy="1665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1. Ingestion: </a:t>
          </a:r>
          <a:r>
            <a:rPr lang="en-US" sz="1700" kern="1200"/>
            <a:t>Automated file polling and regex-based sanitization of raw .mp4/.mkv assets.</a:t>
          </a:r>
        </a:p>
      </dsp:txBody>
      <dsp:txXfrm>
        <a:off x="4088184" y="106786"/>
        <a:ext cx="1665780" cy="1665780"/>
      </dsp:txXfrm>
    </dsp:sp>
    <dsp:sp modelId="{1C235004-D551-4B0D-A8FD-A09D25A5C9E1}">
      <dsp:nvSpPr>
        <dsp:cNvPr id="0" name=""/>
        <dsp:cNvSpPr/>
      </dsp:nvSpPr>
      <dsp:spPr>
        <a:xfrm>
          <a:off x="1153333" y="1713"/>
          <a:ext cx="4705703" cy="4705703"/>
        </a:xfrm>
        <a:prstGeom prst="circularArrow">
          <a:avLst>
            <a:gd name="adj1" fmla="val 6903"/>
            <a:gd name="adj2" fmla="val 465414"/>
            <a:gd name="adj3" fmla="val 549155"/>
            <a:gd name="adj4" fmla="val 20585431"/>
            <a:gd name="adj5" fmla="val 8053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E36858-771D-479A-96FB-8672E888F2F5}">
      <dsp:nvSpPr>
        <dsp:cNvPr id="0" name=""/>
        <dsp:cNvSpPr/>
      </dsp:nvSpPr>
      <dsp:spPr>
        <a:xfrm>
          <a:off x="4088184" y="2936564"/>
          <a:ext cx="1665780" cy="1665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2. Separation: </a:t>
          </a:r>
          <a:r>
            <a:rPr lang="en-US" sz="1700" kern="1200"/>
            <a:t>Convolutional U-Net isolates high-fidelity vocal stems using the mdx model.</a:t>
          </a:r>
        </a:p>
      </dsp:txBody>
      <dsp:txXfrm>
        <a:off x="4088184" y="2936564"/>
        <a:ext cx="1665780" cy="1665780"/>
      </dsp:txXfrm>
    </dsp:sp>
    <dsp:sp modelId="{E34479B4-B586-493A-AC97-FB36A50B6B7E}">
      <dsp:nvSpPr>
        <dsp:cNvPr id="0" name=""/>
        <dsp:cNvSpPr/>
      </dsp:nvSpPr>
      <dsp:spPr>
        <a:xfrm>
          <a:off x="1153333" y="1713"/>
          <a:ext cx="4705703" cy="4705703"/>
        </a:xfrm>
        <a:prstGeom prst="circularArrow">
          <a:avLst>
            <a:gd name="adj1" fmla="val 6903"/>
            <a:gd name="adj2" fmla="val 465414"/>
            <a:gd name="adj3" fmla="val 5949155"/>
            <a:gd name="adj4" fmla="val 4385431"/>
            <a:gd name="adj5" fmla="val 8053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3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AFF2148-4804-4BC1-97E9-719B1621427A}">
      <dsp:nvSpPr>
        <dsp:cNvPr id="0" name=""/>
        <dsp:cNvSpPr/>
      </dsp:nvSpPr>
      <dsp:spPr>
        <a:xfrm>
          <a:off x="1258405" y="2936564"/>
          <a:ext cx="1665780" cy="1665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3. Segmentation:  </a:t>
          </a:r>
          <a:r>
            <a:rPr lang="en-US" sz="1700" kern="1200"/>
            <a:t>RMS energy analysis slices audio into packets with +500ms safety buffers.</a:t>
          </a:r>
        </a:p>
      </dsp:txBody>
      <dsp:txXfrm>
        <a:off x="1258405" y="2936564"/>
        <a:ext cx="1665780" cy="1665780"/>
      </dsp:txXfrm>
    </dsp:sp>
    <dsp:sp modelId="{604A3802-E04C-415A-85AE-D0AB4CE19691}">
      <dsp:nvSpPr>
        <dsp:cNvPr id="0" name=""/>
        <dsp:cNvSpPr/>
      </dsp:nvSpPr>
      <dsp:spPr>
        <a:xfrm>
          <a:off x="1153333" y="1713"/>
          <a:ext cx="4705703" cy="4705703"/>
        </a:xfrm>
        <a:prstGeom prst="circularArrow">
          <a:avLst>
            <a:gd name="adj1" fmla="val 6903"/>
            <a:gd name="adj2" fmla="val 465414"/>
            <a:gd name="adj3" fmla="val 11349155"/>
            <a:gd name="adj4" fmla="val 9785431"/>
            <a:gd name="adj5" fmla="val 8053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837B413-1333-4428-8F77-A9A4DBC69DAC}">
      <dsp:nvSpPr>
        <dsp:cNvPr id="0" name=""/>
        <dsp:cNvSpPr/>
      </dsp:nvSpPr>
      <dsp:spPr>
        <a:xfrm>
          <a:off x="1258405" y="106786"/>
          <a:ext cx="1665780" cy="1665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4. Transcription: </a:t>
          </a:r>
          <a:r>
            <a:rPr lang="en-US" sz="1700" kern="1200"/>
            <a:t>Whisper ASR processed in FP32 precision to generate granular text corpora.</a:t>
          </a:r>
        </a:p>
      </dsp:txBody>
      <dsp:txXfrm>
        <a:off x="1258405" y="106786"/>
        <a:ext cx="1665780" cy="1665780"/>
      </dsp:txXfrm>
    </dsp:sp>
    <dsp:sp modelId="{1AF7AE20-90BE-46AF-9306-2D50B97110FD}">
      <dsp:nvSpPr>
        <dsp:cNvPr id="0" name=""/>
        <dsp:cNvSpPr/>
      </dsp:nvSpPr>
      <dsp:spPr>
        <a:xfrm>
          <a:off x="1153333" y="1713"/>
          <a:ext cx="4705703" cy="4705703"/>
        </a:xfrm>
        <a:prstGeom prst="circularArrow">
          <a:avLst>
            <a:gd name="adj1" fmla="val 6903"/>
            <a:gd name="adj2" fmla="val 465414"/>
            <a:gd name="adj3" fmla="val 16749155"/>
            <a:gd name="adj4" fmla="val 15185431"/>
            <a:gd name="adj5" fmla="val 8053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5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5/28/2026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367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5/28/2026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163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5/28/2026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246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5/28/2026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368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5/28/2026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73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5/28/2026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251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5/28/2026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643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5/28/2026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357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5/28/2026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426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837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5/28/2026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542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74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32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4F00F5-B227-E4CF-282F-2C420E45DF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620" y="863695"/>
            <a:ext cx="3511233" cy="3779995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Automated Vocal Extraction &amp; Transcription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76BB40-D895-243D-FF77-DF973F580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621" y="4739780"/>
            <a:ext cx="3511233" cy="1147054"/>
          </a:xfrm>
        </p:spPr>
        <p:txBody>
          <a:bodyPr anchor="t">
            <a:normAutofit/>
          </a:bodyPr>
          <a:lstStyle/>
          <a:p>
            <a:r>
              <a:rPr lang="en-US" sz="2200"/>
              <a:t> by  Gavril George-Eduard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6D04C4-EC39-A50B-E0AC-13BCED1F53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8" r="1" b="1"/>
          <a:stretch>
            <a:fillRect/>
          </a:stretch>
        </p:blipFill>
        <p:spPr>
          <a:xfrm>
            <a:off x="4654295" y="10"/>
            <a:ext cx="753770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639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0E1C31-6B2A-714A-F328-630D5D49D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The processing Problem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CA171-EEE3-7B1C-D6B9-99C56FD9A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r>
              <a:rPr lang="en-US" sz="2000"/>
              <a:t>Analyzing the vulnerability of Automatic Speech Recognition (ASR) in unconditioned multimedia streams</a:t>
            </a:r>
          </a:p>
        </p:txBody>
      </p:sp>
    </p:spTree>
    <p:extLst>
      <p:ext uri="{BB962C8B-B14F-4D97-AF65-F5344CB8AC3E}">
        <p14:creationId xmlns:p14="http://schemas.microsoft.com/office/powerpoint/2010/main" val="2422126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2AF00E-D433-4047-863F-BCB69CEC3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588" y="601200"/>
            <a:ext cx="7498616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15010-E6A0-172C-4D57-84C02D46C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559" y="938022"/>
            <a:ext cx="6647905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Raw signal vulnerabilities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97DBEA-6DFC-457A-9850-E53505354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446CF5-953A-4916-BFF4-F5558E5C2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7B945C-B433-4DFF-9A67-A5C9257E4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B1FCEAC-130A-8314-734F-EDDD9BD14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559" y="2340864"/>
            <a:ext cx="6690843" cy="3793237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Spectral Complexity</a:t>
            </a:r>
          </a:p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Mixed audio streams contain heterogeneous frequency mixtures where overlapping linguistic data is masked by non-vocal audio sources.</a:t>
            </a:r>
          </a:p>
          <a:p>
            <a:r>
              <a:rPr lang="en-US">
                <a:solidFill>
                  <a:srgbClr val="FFFFFF"/>
                </a:solidFill>
              </a:rPr>
              <a:t> Failed resolution of dynamic elements</a:t>
            </a:r>
          </a:p>
          <a:p>
            <a:r>
              <a:rPr lang="en-US">
                <a:solidFill>
                  <a:srgbClr val="FFFFFF"/>
                </a:solidFill>
              </a:rPr>
              <a:t> Attention degradation in transformers</a:t>
            </a:r>
          </a:p>
          <a:p>
            <a:r>
              <a:rPr lang="en-US">
                <a:solidFill>
                  <a:srgbClr val="FFFFFF"/>
                </a:solidFill>
              </a:rPr>
              <a:t> High Word Error Rates (WER)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7" name="Graphic 6" descr="Voice">
            <a:extLst>
              <a:ext uri="{FF2B5EF4-FFF2-40B4-BE49-F238E27FC236}">
                <a16:creationId xmlns:a16="http://schemas.microsoft.com/office/drawing/2014/main" id="{22783073-B3A7-5886-DE7D-063CC861FE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76761" y="2049354"/>
            <a:ext cx="3053422" cy="305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533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B7D2F-7CF7-98CC-2375-D9C2BA30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chemeClr val="bg1">
                    <a:lumMod val="85000"/>
                    <a:lumOff val="15000"/>
                  </a:schemeClr>
                </a:solidFill>
              </a:rPr>
              <a:t>4-Stage Pipeline Architecture</a:t>
            </a:r>
            <a:br>
              <a:rPr lang="en-US" b="1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endParaRPr lang="en-US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C123B6-82C1-8617-4503-9B3C292F34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6610861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05311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21CB8-9610-E389-F085-22F89F9E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rgbClr val="FFFEFF"/>
                </a:solidFill>
              </a:rPr>
              <a:t>Smart Signal Segmentation</a:t>
            </a:r>
            <a:br>
              <a:rPr lang="en-US" b="1">
                <a:solidFill>
                  <a:srgbClr val="FFFEFF"/>
                </a:solidFill>
              </a:rPr>
            </a:br>
            <a:endParaRPr lang="en-US">
              <a:solidFill>
                <a:srgbClr val="FFFEFF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58759E4-2F9B-3292-0C06-040D14877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b="1"/>
              <a:t>RMS Trigger:  </a:t>
            </a:r>
            <a:r>
              <a:rPr lang="en-US"/>
              <a:t>Calculates localized Root-Mean-Square amplitude. Intervals below </a:t>
            </a:r>
            <a:r>
              <a:rPr lang="en-US" b="1"/>
              <a:t>-45 DBFS</a:t>
            </a:r>
            <a:r>
              <a:rPr lang="en-US"/>
              <a:t> are flagged as silent structural gaps.</a:t>
            </a:r>
          </a:p>
          <a:p>
            <a:r>
              <a:rPr lang="en-US" b="1"/>
              <a:t>Safety Buffers: </a:t>
            </a:r>
            <a:r>
              <a:rPr lang="en-US"/>
              <a:t>Safety margin of </a:t>
            </a:r>
            <a:r>
              <a:rPr lang="en-US" b="1"/>
              <a:t>500 ms</a:t>
            </a:r>
            <a:r>
              <a:rPr lang="en-US"/>
              <a:t> appended to slice markers to prevent plosive clipping or word-ending cutoff.</a:t>
            </a:r>
          </a:p>
          <a:p>
            <a:r>
              <a:rPr lang="en-US" b="1"/>
              <a:t>Noise Rejection: </a:t>
            </a:r>
            <a:r>
              <a:rPr lang="en-US"/>
              <a:t>Durations &lt; 400 ms are mathematically rejected as transient environmental clicking or non-linguistic noise.</a:t>
            </a:r>
            <a:endParaRPr lang="en-US" b="1"/>
          </a:p>
          <a:p>
            <a:endParaRPr lang="en-US" b="1"/>
          </a:p>
          <a:p>
            <a:pPr marL="0" indent="0">
              <a:buNone/>
            </a:pPr>
            <a:endParaRPr lang="en-US" b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52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4DBCCB-E46D-D89A-B840-B6C81AC93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The "Shuttle File" Workflow</a:t>
            </a:r>
            <a:br>
              <a:rPr lang="en-US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6ED81-6B8B-427D-1F19-CBAEC988A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b="1"/>
              <a:t>State-Controlled Loop:  </a:t>
            </a:r>
            <a:r>
              <a:rPr lang="en-US"/>
              <a:t>The system remains idle until a metadata tracking document (_Timeline.txt) is moved into the ToTranscribe/ watch-directory. This act functions as a </a:t>
            </a:r>
            <a:r>
              <a:rPr lang="en-US" b="1"/>
              <a:t>transactional token</a:t>
            </a:r>
            <a:r>
              <a:rPr lang="en-US"/>
              <a:t> or "shuttle file" to initiate the ASR engine.</a:t>
            </a:r>
          </a:p>
          <a:p>
            <a:r>
              <a:rPr lang="en-US" b="1"/>
              <a:t>Project Directory Sync: </a:t>
            </a:r>
            <a:r>
              <a:rPr lang="en-US"/>
              <a:t>Upon completion, the shuttle file is moved back to the secure </a:t>
            </a:r>
            <a:r>
              <a:rPr lang="en-US" b="1"/>
              <a:t>Metadata root</a:t>
            </a:r>
            <a:r>
              <a:rPr lang="en-US"/>
              <a:t>. This change of directory breaks the triggering loop state and cleans up operational memory for the next multimedia asset.</a:t>
            </a:r>
            <a:endParaRPr lang="en-US" b="1"/>
          </a:p>
          <a:p>
            <a:endParaRPr lang="en-US" b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009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C95E99-D9D9-AA07-60BE-2964FD660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Whisper AI Engine</a:t>
            </a:r>
            <a:br>
              <a:rPr lang="en-US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72550-85EC-C901-8385-3425A32A1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b="1"/>
              <a:t>Precision Optimization</a:t>
            </a:r>
          </a:p>
          <a:p>
            <a:pPr marL="0" indent="0">
              <a:buNone/>
            </a:pPr>
            <a:r>
              <a:rPr lang="en-US"/>
              <a:t>The framework utilizes the Whisper Medium model. FP16 optimization is explicitly restricted (fp16=False) to preserve arithmetic scaling consistency.</a:t>
            </a:r>
          </a:p>
          <a:p>
            <a:pPr marL="0" indent="0">
              <a:buNone/>
            </a:pPr>
            <a:r>
              <a:rPr lang="en-US"/>
              <a:t>By converting continuous streams into discrete, high-energy voice packets, the system provides a robust workflow for large-scale video transcription with zero model hallucinations.</a:t>
            </a:r>
          </a:p>
        </p:txBody>
      </p:sp>
    </p:spTree>
    <p:extLst>
      <p:ext uri="{BB962C8B-B14F-4D97-AF65-F5344CB8AC3E}">
        <p14:creationId xmlns:p14="http://schemas.microsoft.com/office/powerpoint/2010/main" val="1052775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524398-BFB4-4C4A-8317-83B8729F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E7FC0-3328-7B1D-2143-562BA294E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20" y="863695"/>
            <a:ext cx="3511233" cy="377999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80142775-0926-41FF-2DE7-1CFDB2B6E1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78" r="6455" b="-1"/>
          <a:stretch>
            <a:fillRect/>
          </a:stretch>
        </p:blipFill>
        <p:spPr>
          <a:xfrm>
            <a:off x="4654295" y="10"/>
            <a:ext cx="753770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52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BB56EB9-078F-4952-AC1F-149C7A0A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772EE4-ED5E-4D3A-A306-B22CF8667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601200"/>
            <a:ext cx="3703320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39432F-E0F0-ABA4-71DB-AB5DA6615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80" y="944752"/>
            <a:ext cx="3259016" cy="14626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>
                <a:solidFill>
                  <a:srgbClr val="FFFFFF"/>
                </a:solidFill>
              </a:rPr>
              <a:t>Automated Project Workspace &amp; Artifact Architecture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058680-D07C-4893-B2B7-91543F18A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42427A-0A1F-4A55-8705-D9179F1E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54A6FE-D8CB-48A3-900B-053D4EBD3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DB151-FB40-3D89-C38F-B9E12D821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513" y="2536031"/>
            <a:ext cx="3123783" cy="367193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b="1">
                <a:solidFill>
                  <a:srgbClr val="FFFFFF"/>
                </a:solidFill>
              </a:rPr>
              <a:t>AudioCuts/</a:t>
            </a:r>
            <a:r>
              <a:rPr lang="en-US" sz="1300">
                <a:solidFill>
                  <a:srgbClr val="FFFFFF"/>
                </a:solidFill>
              </a:rPr>
              <a:t> – Secure storage root for linear pulse-code modulated standard .wav chunks generated by the time-domain slice logic.</a:t>
            </a:r>
          </a:p>
          <a:p>
            <a:pPr>
              <a:lnSpc>
                <a:spcPct val="100000"/>
              </a:lnSpc>
            </a:pPr>
            <a:r>
              <a:rPr lang="en-US" sz="1300" b="1">
                <a:solidFill>
                  <a:srgbClr val="FFFFFF"/>
                </a:solidFill>
              </a:rPr>
              <a:t>Metadata/</a:t>
            </a:r>
            <a:r>
              <a:rPr lang="en-US" sz="1300">
                <a:solidFill>
                  <a:srgbClr val="FFFFFF"/>
                </a:solidFill>
              </a:rPr>
              <a:t> – Houses the asynchronous state-tracking timeline document (_Timeline.txt) used as the transaction token.</a:t>
            </a:r>
          </a:p>
          <a:p>
            <a:pPr>
              <a:lnSpc>
                <a:spcPct val="100000"/>
              </a:lnSpc>
            </a:pPr>
            <a:r>
              <a:rPr lang="en-US" sz="1300" b="1">
                <a:solidFill>
                  <a:srgbClr val="FFFFFF"/>
                </a:solidFill>
              </a:rPr>
              <a:t>Whisper/</a:t>
            </a:r>
            <a:r>
              <a:rPr lang="en-US" sz="1300">
                <a:solidFill>
                  <a:srgbClr val="FFFFFF"/>
                </a:solidFill>
              </a:rPr>
              <a:t> – Dedicated endpoint folder where the autonomous ASR module logs the final serialized string payloads.</a:t>
            </a:r>
          </a:p>
          <a:p>
            <a:pPr>
              <a:lnSpc>
                <a:spcPct val="100000"/>
              </a:lnSpc>
            </a:pPr>
            <a:r>
              <a:rPr lang="en-US" sz="1300" b="1">
                <a:solidFill>
                  <a:srgbClr val="FFFFFF"/>
                </a:solidFill>
              </a:rPr>
              <a:t>Full_Vocal_Master.wav</a:t>
            </a:r>
            <a:r>
              <a:rPr lang="en-US" sz="1300">
                <a:solidFill>
                  <a:srgbClr val="FFFFFF"/>
                </a:solidFill>
              </a:rPr>
              <a:t> – The continuous, high-fidelity reference vocal stem isolated by the Demucs MDX model.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5A81F1-96CA-6016-0A3A-784C6D9203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407" b="-1"/>
          <a:stretch>
            <a:fillRect/>
          </a:stretch>
        </p:blipFill>
        <p:spPr>
          <a:xfrm>
            <a:off x="4241830" y="601200"/>
            <a:ext cx="7503636" cy="578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34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Tw Cen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Microsoft Office PowerPoint</Application>
  <PresentationFormat>Widescreen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Gill Sans MT</vt:lpstr>
      <vt:lpstr>Tw Cen MT</vt:lpstr>
      <vt:lpstr>Wingdings 2</vt:lpstr>
      <vt:lpstr>DividendVTI</vt:lpstr>
      <vt:lpstr>Automated Vocal Extraction &amp; Transcription Pipeline</vt:lpstr>
      <vt:lpstr>The processing Problem</vt:lpstr>
      <vt:lpstr>Raw signal vulnerabilities</vt:lpstr>
      <vt:lpstr>4-Stage Pipeline Architecture </vt:lpstr>
      <vt:lpstr>Smart Signal Segmentation </vt:lpstr>
      <vt:lpstr>The "Shuttle File" Workflow </vt:lpstr>
      <vt:lpstr>Whisper AI Engine </vt:lpstr>
      <vt:lpstr>Results</vt:lpstr>
      <vt:lpstr>Automated Project Workspace &amp; Artifact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Eduard Gavril</dc:creator>
  <cp:lastModifiedBy>George Eduard Gavril</cp:lastModifiedBy>
  <cp:revision>1</cp:revision>
  <dcterms:created xsi:type="dcterms:W3CDTF">2026-05-28T13:05:20Z</dcterms:created>
  <dcterms:modified xsi:type="dcterms:W3CDTF">2026-05-28T13:42:18Z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2026-05-28T13:42:16Z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25e160ec-ec08-4213-a411-49aaddbd62f8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